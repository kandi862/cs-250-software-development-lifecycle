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9"/>
  </p:notesMasterIdLst>
  <p:sldIdLst>
    <p:sldId id="256" r:id="rId2"/>
    <p:sldId id="257" r:id="rId3"/>
    <p:sldId id="258" r:id="rId4"/>
    <p:sldId id="260" r:id="rId5"/>
    <p:sldId id="261" r:id="rId6"/>
    <p:sldId id="263"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3" autoAdjust="0"/>
    <p:restoredTop sz="79352" autoAdjust="0"/>
  </p:normalViewPr>
  <p:slideViewPr>
    <p:cSldViewPr snapToGrid="0">
      <p:cViewPr>
        <p:scale>
          <a:sx n="57" d="100"/>
          <a:sy n="57" d="100"/>
        </p:scale>
        <p:origin x="84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my Holmes" userId="2a0bd3f503bd8573" providerId="LiveId" clId="{5AAFFE60-1487-4DDC-80A4-99D251013C6F}"/>
    <pc:docChg chg="undo custSel modSld">
      <pc:chgData name="Cammy Holmes" userId="2a0bd3f503bd8573" providerId="LiveId" clId="{5AAFFE60-1487-4DDC-80A4-99D251013C6F}" dt="2025-12-14T22:03:06.748" v="1" actId="22"/>
      <pc:docMkLst>
        <pc:docMk/>
      </pc:docMkLst>
      <pc:sldChg chg="addSp delSp mod">
        <pc:chgData name="Cammy Holmes" userId="2a0bd3f503bd8573" providerId="LiveId" clId="{5AAFFE60-1487-4DDC-80A4-99D251013C6F}" dt="2025-12-14T22:03:06.748" v="1" actId="22"/>
        <pc:sldMkLst>
          <pc:docMk/>
          <pc:sldMk cId="2961401509" sldId="263"/>
        </pc:sldMkLst>
        <pc:spChg chg="add del">
          <ac:chgData name="Cammy Holmes" userId="2a0bd3f503bd8573" providerId="LiveId" clId="{5AAFFE60-1487-4DDC-80A4-99D251013C6F}" dt="2025-12-14T22:03:06.748" v="1" actId="22"/>
          <ac:spMkLst>
            <pc:docMk/>
            <pc:sldMk cId="2961401509" sldId="263"/>
            <ac:spMk id="6" creationId="{5155D53D-51BF-6B90-6AFB-5BE791F021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AD085-A076-4A96-A730-135CF316326A}"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8C554-4E17-4EB3-B223-4CC93C0D8D65}" type="slidenum">
              <a:rPr lang="en-US" smtClean="0"/>
              <a:t>‹#›</a:t>
            </a:fld>
            <a:endParaRPr lang="en-US"/>
          </a:p>
        </p:txBody>
      </p:sp>
    </p:spTree>
    <p:extLst>
      <p:ext uri="{BB962C8B-B14F-4D97-AF65-F5344CB8AC3E}">
        <p14:creationId xmlns:p14="http://schemas.microsoft.com/office/powerpoint/2010/main" val="775035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summarizes the results of </a:t>
            </a:r>
            <a:r>
              <a:rPr lang="en-US" dirty="0" err="1"/>
              <a:t>ChadaTech’s</a:t>
            </a:r>
            <a:r>
              <a:rPr lang="en-US" dirty="0"/>
              <a:t> Scrum-Agile pilot project for the SNHU Travel application. The goal is to share what we learned from using Scrum instead of our traditional Waterfall approach and provide a recommendation on whether Agile should be expanded across additional development teams.</a:t>
            </a:r>
          </a:p>
        </p:txBody>
      </p:sp>
      <p:sp>
        <p:nvSpPr>
          <p:cNvPr id="4" name="Slide Number Placeholder 3"/>
          <p:cNvSpPr>
            <a:spLocks noGrp="1"/>
          </p:cNvSpPr>
          <p:nvPr>
            <p:ph type="sldNum" sz="quarter" idx="5"/>
          </p:nvPr>
        </p:nvSpPr>
        <p:spPr/>
        <p:txBody>
          <a:bodyPr/>
          <a:lstStyle/>
          <a:p>
            <a:fld id="{8CF8C554-4E17-4EB3-B223-4CC93C0D8D65}" type="slidenum">
              <a:rPr lang="en-US" smtClean="0"/>
              <a:t>1</a:t>
            </a:fld>
            <a:endParaRPr lang="en-US"/>
          </a:p>
        </p:txBody>
      </p:sp>
    </p:spTree>
    <p:extLst>
      <p:ext uri="{BB962C8B-B14F-4D97-AF65-F5344CB8AC3E}">
        <p14:creationId xmlns:p14="http://schemas.microsoft.com/office/powerpoint/2010/main" val="52112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Scrum-Agile is an iterative development framework that delivers working software in short cycles called sprints. Rather than waiting until the end of a project to see results, teams deliver small, usable increments regularly.</a:t>
            </a:r>
          </a:p>
          <a:p>
            <a:r>
              <a:rPr lang="en-US" dirty="0"/>
              <a:t>For organizations like </a:t>
            </a:r>
            <a:r>
              <a:rPr lang="en-US" dirty="0" err="1"/>
              <a:t>ChadaTech</a:t>
            </a:r>
            <a:r>
              <a:rPr lang="en-US" dirty="0"/>
              <a:t>, this means faster delivery of customer value, improved transparency into project progress, and a much stronger ability to respond to changing client needs. These benefits became very clear during the SNHU Travel pilot.</a:t>
            </a:r>
          </a:p>
          <a:p>
            <a:endParaRPr lang="en-US" dirty="0"/>
          </a:p>
        </p:txBody>
      </p:sp>
      <p:sp>
        <p:nvSpPr>
          <p:cNvPr id="4" name="Slide Number Placeholder 3"/>
          <p:cNvSpPr>
            <a:spLocks noGrp="1"/>
          </p:cNvSpPr>
          <p:nvPr>
            <p:ph type="sldNum" sz="quarter" idx="5"/>
          </p:nvPr>
        </p:nvSpPr>
        <p:spPr/>
        <p:txBody>
          <a:bodyPr/>
          <a:lstStyle/>
          <a:p>
            <a:fld id="{8CF8C554-4E17-4EB3-B223-4CC93C0D8D65}" type="slidenum">
              <a:rPr lang="en-US" smtClean="0"/>
              <a:t>2</a:t>
            </a:fld>
            <a:endParaRPr lang="en-US"/>
          </a:p>
        </p:txBody>
      </p:sp>
    </p:spTree>
    <p:extLst>
      <p:ext uri="{BB962C8B-B14F-4D97-AF65-F5344CB8AC3E}">
        <p14:creationId xmlns:p14="http://schemas.microsoft.com/office/powerpoint/2010/main" val="910900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defines three key roles, each with a clear purpose. The Product Owner ensures work is always aligned with business and customer value. The Scrum Master focuses on keeping the process running smoothly and removing obstacles. The Development Team is responsible for delivering tested, working software.</a:t>
            </a:r>
          </a:p>
          <a:p>
            <a:r>
              <a:rPr lang="en-US" dirty="0"/>
              <a:t>From a leadership perspective, this structure creates clear ownership while still encouraging shared accountability. Instead of work being siloed, teams collaborate more effectively and stay aligned around common goals.</a:t>
            </a:r>
          </a:p>
          <a:p>
            <a:endParaRPr lang="en-US" dirty="0"/>
          </a:p>
        </p:txBody>
      </p:sp>
      <p:sp>
        <p:nvSpPr>
          <p:cNvPr id="4" name="Slide Number Placeholder 3"/>
          <p:cNvSpPr>
            <a:spLocks noGrp="1"/>
          </p:cNvSpPr>
          <p:nvPr>
            <p:ph type="sldNum" sz="quarter" idx="5"/>
          </p:nvPr>
        </p:nvSpPr>
        <p:spPr/>
        <p:txBody>
          <a:bodyPr/>
          <a:lstStyle/>
          <a:p>
            <a:fld id="{8CF8C554-4E17-4EB3-B223-4CC93C0D8D65}" type="slidenum">
              <a:rPr lang="en-US" smtClean="0"/>
              <a:t>3</a:t>
            </a:fld>
            <a:endParaRPr lang="en-US"/>
          </a:p>
        </p:txBody>
      </p:sp>
    </p:spTree>
    <p:extLst>
      <p:ext uri="{BB962C8B-B14F-4D97-AF65-F5344CB8AC3E}">
        <p14:creationId xmlns:p14="http://schemas.microsoft.com/office/powerpoint/2010/main" val="528406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Agile, the traditional phases of the SDLC—planning, development, testing, and review—still exist, but they happen continuously instead of sequentially.</a:t>
            </a:r>
          </a:p>
          <a:p>
            <a:r>
              <a:rPr lang="en-US" dirty="0"/>
              <a:t>Each sprint includes planning, development, testing, and stakeholder review. Retrospectives then allow teams to improve their process before the next sprint begins. This continuous cycle helped the SNHU Travel team refine features quickly and avoid late-stage surprises.</a:t>
            </a:r>
          </a:p>
          <a:p>
            <a:endParaRPr lang="en-US" dirty="0"/>
          </a:p>
        </p:txBody>
      </p:sp>
      <p:sp>
        <p:nvSpPr>
          <p:cNvPr id="4" name="Slide Number Placeholder 3"/>
          <p:cNvSpPr>
            <a:spLocks noGrp="1"/>
          </p:cNvSpPr>
          <p:nvPr>
            <p:ph type="sldNum" sz="quarter" idx="5"/>
          </p:nvPr>
        </p:nvSpPr>
        <p:spPr/>
        <p:txBody>
          <a:bodyPr/>
          <a:lstStyle/>
          <a:p>
            <a:fld id="{8CF8C554-4E17-4EB3-B223-4CC93C0D8D65}" type="slidenum">
              <a:rPr lang="en-US" smtClean="0"/>
              <a:t>4</a:t>
            </a:fld>
            <a:endParaRPr lang="en-US"/>
          </a:p>
        </p:txBody>
      </p:sp>
    </p:spTree>
    <p:extLst>
      <p:ext uri="{BB962C8B-B14F-4D97-AF65-F5344CB8AC3E}">
        <p14:creationId xmlns:p14="http://schemas.microsoft.com/office/powerpoint/2010/main" val="638982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Waterfall model, requirements are defined early and changes later in the project are expensive and disruptive. In contrast, Scrum-Agile expects change and is designed to manage it.</a:t>
            </a:r>
          </a:p>
          <a:p>
            <a:r>
              <a:rPr lang="en-US" dirty="0"/>
              <a:t>During the SNHU Travel project, priorities shifted mid-development toward wellness-focused travel. Using Scrum, the team was able to reprioritize work and continue delivering without delaying the project—something that would have been difficult under a Waterfall approach.</a:t>
            </a:r>
          </a:p>
          <a:p>
            <a:endParaRPr lang="en-US" dirty="0"/>
          </a:p>
        </p:txBody>
      </p:sp>
      <p:sp>
        <p:nvSpPr>
          <p:cNvPr id="4" name="Slide Number Placeholder 3"/>
          <p:cNvSpPr>
            <a:spLocks noGrp="1"/>
          </p:cNvSpPr>
          <p:nvPr>
            <p:ph type="sldNum" sz="quarter" idx="5"/>
          </p:nvPr>
        </p:nvSpPr>
        <p:spPr/>
        <p:txBody>
          <a:bodyPr/>
          <a:lstStyle/>
          <a:p>
            <a:fld id="{8CF8C554-4E17-4EB3-B223-4CC93C0D8D65}" type="slidenum">
              <a:rPr lang="en-US" smtClean="0"/>
              <a:t>5</a:t>
            </a:fld>
            <a:endParaRPr lang="en-US"/>
          </a:p>
        </p:txBody>
      </p:sp>
    </p:spTree>
    <p:extLst>
      <p:ext uri="{BB962C8B-B14F-4D97-AF65-F5344CB8AC3E}">
        <p14:creationId xmlns:p14="http://schemas.microsoft.com/office/powerpoint/2010/main" val="1171544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Waterfall and Agile depends on several factors, including requirement stability, stakeholder involvement, and the need for flexibility.</a:t>
            </a:r>
          </a:p>
          <a:p>
            <a:r>
              <a:rPr lang="en-US" dirty="0"/>
              <a:t>For SNHU Travel, requirements evolved throughout development and frequent feedback was essential. Scrum-Agile proved to be the better fit. Based on the pilot results, expanding Scrum-Agile for client-facing and custom software projects would likely provide significant value to </a:t>
            </a:r>
            <a:r>
              <a:rPr lang="en-US" dirty="0" err="1"/>
              <a:t>ChadaTech</a:t>
            </a:r>
            <a:r>
              <a:rPr lang="en-US" dirty="0"/>
              <a:t>.</a:t>
            </a:r>
          </a:p>
          <a:p>
            <a:endParaRPr lang="en-US" dirty="0"/>
          </a:p>
        </p:txBody>
      </p:sp>
      <p:sp>
        <p:nvSpPr>
          <p:cNvPr id="4" name="Slide Number Placeholder 3"/>
          <p:cNvSpPr>
            <a:spLocks noGrp="1"/>
          </p:cNvSpPr>
          <p:nvPr>
            <p:ph type="sldNum" sz="quarter" idx="5"/>
          </p:nvPr>
        </p:nvSpPr>
        <p:spPr/>
        <p:txBody>
          <a:bodyPr/>
          <a:lstStyle/>
          <a:p>
            <a:fld id="{8CF8C554-4E17-4EB3-B223-4CC93C0D8D65}" type="slidenum">
              <a:rPr lang="en-US" smtClean="0"/>
              <a:t>6</a:t>
            </a:fld>
            <a:endParaRPr lang="en-US"/>
          </a:p>
        </p:txBody>
      </p:sp>
    </p:spTree>
    <p:extLst>
      <p:ext uri="{BB962C8B-B14F-4D97-AF65-F5344CB8AC3E}">
        <p14:creationId xmlns:p14="http://schemas.microsoft.com/office/powerpoint/2010/main" val="2496049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sources listed here support the Agile principles and comparisons presented throughout this briefing. They reflect current industry best practices and research on Agile and Scrum frameworks.</a:t>
            </a:r>
          </a:p>
        </p:txBody>
      </p:sp>
      <p:sp>
        <p:nvSpPr>
          <p:cNvPr id="4" name="Slide Number Placeholder 3"/>
          <p:cNvSpPr>
            <a:spLocks noGrp="1"/>
          </p:cNvSpPr>
          <p:nvPr>
            <p:ph type="sldNum" sz="quarter" idx="5"/>
          </p:nvPr>
        </p:nvSpPr>
        <p:spPr/>
        <p:txBody>
          <a:bodyPr/>
          <a:lstStyle/>
          <a:p>
            <a:fld id="{8CF8C554-4E17-4EB3-B223-4CC93C0D8D65}" type="slidenum">
              <a:rPr lang="en-US" smtClean="0"/>
              <a:t>7</a:t>
            </a:fld>
            <a:endParaRPr lang="en-US"/>
          </a:p>
        </p:txBody>
      </p:sp>
    </p:spTree>
    <p:extLst>
      <p:ext uri="{BB962C8B-B14F-4D97-AF65-F5344CB8AC3E}">
        <p14:creationId xmlns:p14="http://schemas.microsoft.com/office/powerpoint/2010/main" val="25803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4147958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123563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3693397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29EB8F-0A97-4CAB-A739-E8FCF711AAB5}"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1570792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29EB8F-0A97-4CAB-A739-E8FCF711AAB5}"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2710318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29EB8F-0A97-4CAB-A739-E8FCF711AAB5}"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1380325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29EB8F-0A97-4CAB-A739-E8FCF711AAB5}"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3672071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29EB8F-0A97-4CAB-A739-E8FCF711AAB5}"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356470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29EB8F-0A97-4CAB-A739-E8FCF711AAB5}"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330774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3152976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41111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2496524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56780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177751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1713019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29EB8F-0A97-4CAB-A739-E8FCF711AAB5}"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1885D0-1A7E-48B5-B892-2FC9BCB13B37}" type="slidenum">
              <a:rPr lang="en-US" smtClean="0"/>
              <a:t>‹#›</a:t>
            </a:fld>
            <a:endParaRPr lang="en-US"/>
          </a:p>
        </p:txBody>
      </p:sp>
    </p:spTree>
    <p:extLst>
      <p:ext uri="{BB962C8B-B14F-4D97-AF65-F5344CB8AC3E}">
        <p14:creationId xmlns:p14="http://schemas.microsoft.com/office/powerpoint/2010/main" val="731802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F29EB8F-0A97-4CAB-A739-E8FCF711AAB5}" type="datetimeFigureOut">
              <a:rPr lang="en-US" smtClean="0"/>
              <a:t>12/14/2025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1885D0-1A7E-48B5-B892-2FC9BCB13B37}" type="slidenum">
              <a:rPr lang="en-US" smtClean="0"/>
              <a:t>‹#›</a:t>
            </a:fld>
            <a:endParaRPr lang="en-US"/>
          </a:p>
        </p:txBody>
      </p:sp>
    </p:spTree>
    <p:extLst>
      <p:ext uri="{BB962C8B-B14F-4D97-AF65-F5344CB8AC3E}">
        <p14:creationId xmlns:p14="http://schemas.microsoft.com/office/powerpoint/2010/main" val="1658646292"/>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20AA-BE12-59F8-C87F-13645D9F32B2}"/>
              </a:ext>
            </a:extLst>
          </p:cNvPr>
          <p:cNvSpPr>
            <a:spLocks noGrp="1"/>
          </p:cNvSpPr>
          <p:nvPr>
            <p:ph type="ctrTitle"/>
          </p:nvPr>
        </p:nvSpPr>
        <p:spPr/>
        <p:txBody>
          <a:bodyPr/>
          <a:lstStyle/>
          <a:p>
            <a:r>
              <a:rPr lang="en-US" dirty="0" err="1"/>
              <a:t>ChadaTech</a:t>
            </a:r>
            <a:br>
              <a:rPr lang="en-US" dirty="0"/>
            </a:br>
            <a:r>
              <a:rPr lang="en-US" b="1" dirty="0"/>
              <a:t>Agile Presentation</a:t>
            </a:r>
            <a:endParaRPr lang="en-US" dirty="0"/>
          </a:p>
        </p:txBody>
      </p:sp>
      <p:sp>
        <p:nvSpPr>
          <p:cNvPr id="3" name="Subtitle 2">
            <a:extLst>
              <a:ext uri="{FF2B5EF4-FFF2-40B4-BE49-F238E27FC236}">
                <a16:creationId xmlns:a16="http://schemas.microsoft.com/office/drawing/2014/main" id="{EB7ABB16-06EB-F339-10BC-B0F403DAE564}"/>
              </a:ext>
            </a:extLst>
          </p:cNvPr>
          <p:cNvSpPr>
            <a:spLocks noGrp="1"/>
          </p:cNvSpPr>
          <p:nvPr>
            <p:ph type="subTitle" idx="1"/>
          </p:nvPr>
        </p:nvSpPr>
        <p:spPr/>
        <p:txBody>
          <a:bodyPr>
            <a:normAutofit fontScale="62500" lnSpcReduction="20000"/>
          </a:bodyPr>
          <a:lstStyle/>
          <a:p>
            <a:r>
              <a:rPr lang="en-US" b="1" dirty="0"/>
              <a:t>CS 250 Final Project</a:t>
            </a:r>
            <a:endParaRPr lang="en-US" dirty="0"/>
          </a:p>
          <a:p>
            <a:r>
              <a:rPr lang="en-US" dirty="0"/>
              <a:t>Cammy Gurno</a:t>
            </a:r>
          </a:p>
          <a:p>
            <a:r>
              <a:rPr lang="en-US" dirty="0"/>
              <a:t>12/14/2025</a:t>
            </a:r>
            <a:br>
              <a:rPr lang="en-US" dirty="0"/>
            </a:br>
            <a:r>
              <a:rPr lang="en-US" dirty="0"/>
              <a:t>Southern New Hampshire University</a:t>
            </a:r>
            <a:br>
              <a:rPr lang="en-US" dirty="0"/>
            </a:br>
            <a:r>
              <a:rPr lang="en-US" dirty="0"/>
              <a:t>CS 250: Software Development Lifecycle</a:t>
            </a:r>
          </a:p>
          <a:p>
            <a:endParaRPr lang="en-US" dirty="0"/>
          </a:p>
        </p:txBody>
      </p:sp>
    </p:spTree>
    <p:extLst>
      <p:ext uri="{BB962C8B-B14F-4D97-AF65-F5344CB8AC3E}">
        <p14:creationId xmlns:p14="http://schemas.microsoft.com/office/powerpoint/2010/main" val="2870586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2132-17D0-DCA2-E16F-B885DB47EA54}"/>
              </a:ext>
            </a:extLst>
          </p:cNvPr>
          <p:cNvSpPr>
            <a:spLocks noGrp="1"/>
          </p:cNvSpPr>
          <p:nvPr>
            <p:ph type="title"/>
          </p:nvPr>
        </p:nvSpPr>
        <p:spPr/>
        <p:txBody>
          <a:bodyPr/>
          <a:lstStyle/>
          <a:p>
            <a:r>
              <a:rPr lang="en-US" b="1" dirty="0"/>
              <a:t>Key Facets of Scrum-Agile</a:t>
            </a:r>
          </a:p>
        </p:txBody>
      </p:sp>
      <p:sp>
        <p:nvSpPr>
          <p:cNvPr id="3" name="Content Placeholder 2">
            <a:extLst>
              <a:ext uri="{FF2B5EF4-FFF2-40B4-BE49-F238E27FC236}">
                <a16:creationId xmlns:a16="http://schemas.microsoft.com/office/drawing/2014/main" id="{50CDBA37-4F41-2561-1DB5-E7C6333C63CA}"/>
              </a:ext>
            </a:extLst>
          </p:cNvPr>
          <p:cNvSpPr>
            <a:spLocks noGrp="1"/>
          </p:cNvSpPr>
          <p:nvPr>
            <p:ph idx="1"/>
          </p:nvPr>
        </p:nvSpPr>
        <p:spPr>
          <a:xfrm>
            <a:off x="677334" y="1736046"/>
            <a:ext cx="8596668" cy="3880773"/>
          </a:xfrm>
        </p:spPr>
        <p:txBody>
          <a:bodyPr>
            <a:normAutofit/>
          </a:bodyPr>
          <a:lstStyle/>
          <a:p>
            <a:pPr marL="0" indent="0">
              <a:buNone/>
            </a:pPr>
            <a:r>
              <a:rPr lang="en-US" sz="2000" b="1" dirty="0"/>
              <a:t>What Is Scrum-Agile?</a:t>
            </a:r>
            <a:endParaRPr lang="en-US" sz="2000" dirty="0"/>
          </a:p>
          <a:p>
            <a:r>
              <a:rPr lang="en-US" dirty="0"/>
              <a:t>Iterative, incremental software development framework</a:t>
            </a:r>
          </a:p>
          <a:p>
            <a:r>
              <a:rPr lang="en-US" dirty="0"/>
              <a:t>Work delivered in short cycles called </a:t>
            </a:r>
            <a:r>
              <a:rPr lang="en-US" i="1" dirty="0"/>
              <a:t>sprints</a:t>
            </a:r>
            <a:endParaRPr lang="en-US" dirty="0"/>
          </a:p>
          <a:p>
            <a:r>
              <a:rPr lang="en-US" dirty="0"/>
              <a:t>Continuous feedback and improvement built into the process</a:t>
            </a:r>
          </a:p>
          <a:p>
            <a:pPr marL="0" indent="0">
              <a:buNone/>
            </a:pPr>
            <a:endParaRPr lang="en-US" b="1" dirty="0"/>
          </a:p>
          <a:p>
            <a:pPr marL="0" indent="0">
              <a:buNone/>
            </a:pPr>
            <a:r>
              <a:rPr lang="en-US" sz="2000" b="1" dirty="0"/>
              <a:t>Why Organizations Use Scrum</a:t>
            </a:r>
            <a:endParaRPr lang="en-US" sz="2000" dirty="0"/>
          </a:p>
          <a:p>
            <a:r>
              <a:rPr lang="en-US" dirty="0"/>
              <a:t>Faster delivery of customer value</a:t>
            </a:r>
          </a:p>
          <a:p>
            <a:r>
              <a:rPr lang="en-US" dirty="0"/>
              <a:t>Increased transparency and predictability</a:t>
            </a:r>
          </a:p>
          <a:p>
            <a:r>
              <a:rPr lang="en-US" dirty="0"/>
              <a:t>Improved ability to adapt to changing requirements</a:t>
            </a:r>
          </a:p>
          <a:p>
            <a:endParaRPr lang="en-US" dirty="0"/>
          </a:p>
        </p:txBody>
      </p:sp>
      <p:sp>
        <p:nvSpPr>
          <p:cNvPr id="5" name="TextBox 4">
            <a:extLst>
              <a:ext uri="{FF2B5EF4-FFF2-40B4-BE49-F238E27FC236}">
                <a16:creationId xmlns:a16="http://schemas.microsoft.com/office/drawing/2014/main" id="{BEB6E144-4858-7377-1D63-C53FE878CEF5}"/>
              </a:ext>
            </a:extLst>
          </p:cNvPr>
          <p:cNvSpPr txBox="1"/>
          <p:nvPr/>
        </p:nvSpPr>
        <p:spPr>
          <a:xfrm>
            <a:off x="677334" y="6373933"/>
            <a:ext cx="6106884" cy="369332"/>
          </a:xfrm>
          <a:prstGeom prst="rect">
            <a:avLst/>
          </a:prstGeom>
          <a:noFill/>
        </p:spPr>
        <p:txBody>
          <a:bodyPr wrap="square">
            <a:spAutoFit/>
          </a:bodyPr>
          <a:lstStyle/>
          <a:p>
            <a:r>
              <a:rPr lang="en-US" dirty="0"/>
              <a:t>Citation: Schwaber &amp; Sutherland (2020)</a:t>
            </a:r>
          </a:p>
        </p:txBody>
      </p:sp>
    </p:spTree>
    <p:extLst>
      <p:ext uri="{BB962C8B-B14F-4D97-AF65-F5344CB8AC3E}">
        <p14:creationId xmlns:p14="http://schemas.microsoft.com/office/powerpoint/2010/main" val="1519918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7A3F-997A-3331-DF2E-85FC1B04E14D}"/>
              </a:ext>
            </a:extLst>
          </p:cNvPr>
          <p:cNvSpPr>
            <a:spLocks noGrp="1"/>
          </p:cNvSpPr>
          <p:nvPr>
            <p:ph type="title"/>
          </p:nvPr>
        </p:nvSpPr>
        <p:spPr/>
        <p:txBody>
          <a:bodyPr/>
          <a:lstStyle/>
          <a:p>
            <a:r>
              <a:rPr lang="en-US" b="1" dirty="0"/>
              <a:t>Scrum-Agile Team Roles</a:t>
            </a:r>
          </a:p>
        </p:txBody>
      </p:sp>
      <p:sp>
        <p:nvSpPr>
          <p:cNvPr id="3" name="Content Placeholder 2">
            <a:extLst>
              <a:ext uri="{FF2B5EF4-FFF2-40B4-BE49-F238E27FC236}">
                <a16:creationId xmlns:a16="http://schemas.microsoft.com/office/drawing/2014/main" id="{4BC68EC0-FD0D-78BC-CF38-99B21A48CCA2}"/>
              </a:ext>
            </a:extLst>
          </p:cNvPr>
          <p:cNvSpPr>
            <a:spLocks noGrp="1"/>
          </p:cNvSpPr>
          <p:nvPr>
            <p:ph idx="1"/>
          </p:nvPr>
        </p:nvSpPr>
        <p:spPr>
          <a:xfrm>
            <a:off x="738717" y="1930400"/>
            <a:ext cx="8473902" cy="3282043"/>
          </a:xfrm>
        </p:spPr>
        <p:txBody>
          <a:bodyPr numCol="2">
            <a:normAutofit/>
          </a:bodyPr>
          <a:lstStyle/>
          <a:p>
            <a:r>
              <a:rPr lang="en-US" b="1" dirty="0"/>
              <a:t>Product Owner</a:t>
            </a:r>
            <a:endParaRPr lang="en-US" dirty="0"/>
          </a:p>
          <a:p>
            <a:pPr lvl="1"/>
            <a:r>
              <a:rPr lang="en-US" dirty="0"/>
              <a:t>Prioritizes the product backlog</a:t>
            </a:r>
          </a:p>
          <a:p>
            <a:pPr lvl="1"/>
            <a:r>
              <a:rPr lang="en-US" dirty="0"/>
              <a:t>Ensures work delivers business and customer value</a:t>
            </a:r>
          </a:p>
          <a:p>
            <a:r>
              <a:rPr lang="en-US" b="1" dirty="0"/>
              <a:t>Scrum Master</a:t>
            </a:r>
            <a:endParaRPr lang="en-US" dirty="0"/>
          </a:p>
          <a:p>
            <a:pPr lvl="1"/>
            <a:r>
              <a:rPr lang="en-US" dirty="0"/>
              <a:t>Facilitates Scrum events</a:t>
            </a:r>
          </a:p>
          <a:p>
            <a:pPr lvl="1"/>
            <a:r>
              <a:rPr lang="en-US" dirty="0"/>
              <a:t>Removes obstacles and supports team effectiveness</a:t>
            </a:r>
          </a:p>
          <a:p>
            <a:pPr marL="457200" lvl="1" indent="0">
              <a:buNone/>
            </a:pPr>
            <a:endParaRPr lang="en-US" dirty="0"/>
          </a:p>
          <a:p>
            <a:r>
              <a:rPr lang="en-US" b="1" dirty="0"/>
              <a:t>Development Team</a:t>
            </a:r>
            <a:endParaRPr lang="en-US" dirty="0"/>
          </a:p>
          <a:p>
            <a:pPr lvl="1"/>
            <a:r>
              <a:rPr lang="en-US" dirty="0"/>
              <a:t>Designs, builds, and tests product increments</a:t>
            </a:r>
          </a:p>
          <a:p>
            <a:pPr lvl="1"/>
            <a:r>
              <a:rPr lang="en-US" dirty="0"/>
              <a:t>Self-organizing and cross-functional</a:t>
            </a:r>
          </a:p>
          <a:p>
            <a:r>
              <a:rPr lang="en-US" b="1" dirty="0"/>
              <a:t>Leadership Impact</a:t>
            </a:r>
            <a:endParaRPr lang="en-US" dirty="0"/>
          </a:p>
          <a:p>
            <a:pPr lvl="1"/>
            <a:r>
              <a:rPr lang="en-US" dirty="0"/>
              <a:t>Clear ownership</a:t>
            </a:r>
          </a:p>
          <a:p>
            <a:pPr lvl="1"/>
            <a:r>
              <a:rPr lang="en-US" dirty="0"/>
              <a:t>Shared accountability</a:t>
            </a:r>
          </a:p>
          <a:p>
            <a:pPr lvl="1"/>
            <a:r>
              <a:rPr lang="en-US" dirty="0"/>
              <a:t>Stronger collaboration across teams</a:t>
            </a:r>
          </a:p>
        </p:txBody>
      </p:sp>
      <p:sp>
        <p:nvSpPr>
          <p:cNvPr id="5" name="TextBox 4">
            <a:extLst>
              <a:ext uri="{FF2B5EF4-FFF2-40B4-BE49-F238E27FC236}">
                <a16:creationId xmlns:a16="http://schemas.microsoft.com/office/drawing/2014/main" id="{E8E56771-7618-EAE3-0865-067F70ECC57F}"/>
              </a:ext>
            </a:extLst>
          </p:cNvPr>
          <p:cNvSpPr txBox="1"/>
          <p:nvPr/>
        </p:nvSpPr>
        <p:spPr>
          <a:xfrm>
            <a:off x="1061358" y="6063734"/>
            <a:ext cx="6106884" cy="369332"/>
          </a:xfrm>
          <a:prstGeom prst="rect">
            <a:avLst/>
          </a:prstGeom>
          <a:noFill/>
        </p:spPr>
        <p:txBody>
          <a:bodyPr wrap="square">
            <a:spAutoFit/>
          </a:bodyPr>
          <a:lstStyle/>
          <a:p>
            <a:r>
              <a:rPr lang="en-US" dirty="0"/>
              <a:t>Citation: Rubin (2013)</a:t>
            </a:r>
          </a:p>
        </p:txBody>
      </p:sp>
    </p:spTree>
    <p:extLst>
      <p:ext uri="{BB962C8B-B14F-4D97-AF65-F5344CB8AC3E}">
        <p14:creationId xmlns:p14="http://schemas.microsoft.com/office/powerpoint/2010/main" val="194067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1C5E6-1EFD-6A73-C595-1E57F1E6E550}"/>
              </a:ext>
            </a:extLst>
          </p:cNvPr>
          <p:cNvSpPr>
            <a:spLocks noGrp="1"/>
          </p:cNvSpPr>
          <p:nvPr>
            <p:ph type="title"/>
          </p:nvPr>
        </p:nvSpPr>
        <p:spPr/>
        <p:txBody>
          <a:bodyPr/>
          <a:lstStyle/>
          <a:p>
            <a:r>
              <a:rPr lang="en-US" b="1" dirty="0"/>
              <a:t>Agile Phases of the SDLC</a:t>
            </a:r>
          </a:p>
        </p:txBody>
      </p:sp>
      <p:sp>
        <p:nvSpPr>
          <p:cNvPr id="3" name="Content Placeholder 2">
            <a:extLst>
              <a:ext uri="{FF2B5EF4-FFF2-40B4-BE49-F238E27FC236}">
                <a16:creationId xmlns:a16="http://schemas.microsoft.com/office/drawing/2014/main" id="{BAE7B2EF-16B7-C55D-68CE-279D12915D47}"/>
              </a:ext>
            </a:extLst>
          </p:cNvPr>
          <p:cNvSpPr>
            <a:spLocks noGrp="1"/>
          </p:cNvSpPr>
          <p:nvPr>
            <p:ph idx="1"/>
          </p:nvPr>
        </p:nvSpPr>
        <p:spPr>
          <a:xfrm>
            <a:off x="677334" y="2160590"/>
            <a:ext cx="8596668" cy="3570740"/>
          </a:xfrm>
        </p:spPr>
        <p:txBody>
          <a:bodyPr/>
          <a:lstStyle/>
          <a:p>
            <a:pPr marL="0" indent="0">
              <a:buNone/>
            </a:pPr>
            <a:r>
              <a:rPr lang="en-US" sz="2000" b="1" dirty="0"/>
              <a:t>How the SDLC Works in Agile</a:t>
            </a:r>
            <a:endParaRPr lang="en-US" sz="2000" dirty="0"/>
          </a:p>
          <a:p>
            <a:r>
              <a:rPr lang="en-US" b="1" dirty="0"/>
              <a:t>Planning:</a:t>
            </a:r>
            <a:r>
              <a:rPr lang="en-US" dirty="0"/>
              <a:t> User stories created and prioritized</a:t>
            </a:r>
          </a:p>
          <a:p>
            <a:r>
              <a:rPr lang="en-US" b="1" dirty="0"/>
              <a:t>Design &amp; Development:</a:t>
            </a:r>
            <a:r>
              <a:rPr lang="en-US" dirty="0"/>
              <a:t> Features built incrementally</a:t>
            </a:r>
          </a:p>
          <a:p>
            <a:r>
              <a:rPr lang="en-US" b="1" dirty="0"/>
              <a:t>Testing:</a:t>
            </a:r>
            <a:r>
              <a:rPr lang="en-US" dirty="0"/>
              <a:t> Continuous testing using acceptance criteria</a:t>
            </a:r>
          </a:p>
          <a:p>
            <a:r>
              <a:rPr lang="en-US" b="1" dirty="0"/>
              <a:t>Review:</a:t>
            </a:r>
            <a:r>
              <a:rPr lang="en-US" dirty="0"/>
              <a:t> Stakeholder feedback during Sprint Reviews</a:t>
            </a:r>
          </a:p>
          <a:p>
            <a:r>
              <a:rPr lang="en-US" b="1" dirty="0"/>
              <a:t>Improve:</a:t>
            </a:r>
            <a:r>
              <a:rPr lang="en-US" dirty="0"/>
              <a:t> Process refinement during Retrospectives</a:t>
            </a:r>
          </a:p>
          <a:p>
            <a:pPr marL="0" indent="0">
              <a:buNone/>
            </a:pPr>
            <a:r>
              <a:rPr lang="en-US" sz="2000" b="1" dirty="0"/>
              <a:t>Key Difference</a:t>
            </a:r>
            <a:endParaRPr lang="en-US" sz="2000" dirty="0"/>
          </a:p>
          <a:p>
            <a:r>
              <a:rPr lang="en-US" dirty="0"/>
              <a:t>Phases repeat continuously rather than occurring once</a:t>
            </a:r>
          </a:p>
        </p:txBody>
      </p:sp>
      <p:sp>
        <p:nvSpPr>
          <p:cNvPr id="5" name="TextBox 4">
            <a:extLst>
              <a:ext uri="{FF2B5EF4-FFF2-40B4-BE49-F238E27FC236}">
                <a16:creationId xmlns:a16="http://schemas.microsoft.com/office/drawing/2014/main" id="{A544E532-4ACF-C4F8-BCCA-4BA64E2EA15D}"/>
              </a:ext>
            </a:extLst>
          </p:cNvPr>
          <p:cNvSpPr txBox="1"/>
          <p:nvPr/>
        </p:nvSpPr>
        <p:spPr>
          <a:xfrm>
            <a:off x="677334" y="6271551"/>
            <a:ext cx="6106884" cy="369332"/>
          </a:xfrm>
          <a:prstGeom prst="rect">
            <a:avLst/>
          </a:prstGeom>
          <a:noFill/>
        </p:spPr>
        <p:txBody>
          <a:bodyPr wrap="square">
            <a:spAutoFit/>
          </a:bodyPr>
          <a:lstStyle/>
          <a:p>
            <a:r>
              <a:rPr lang="en-US" dirty="0"/>
              <a:t>Citation: Moran (2020)</a:t>
            </a:r>
          </a:p>
        </p:txBody>
      </p:sp>
    </p:spTree>
    <p:extLst>
      <p:ext uri="{BB962C8B-B14F-4D97-AF65-F5344CB8AC3E}">
        <p14:creationId xmlns:p14="http://schemas.microsoft.com/office/powerpoint/2010/main" val="919221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F94D-5011-BF36-11B6-E0198B7C5D7D}"/>
              </a:ext>
            </a:extLst>
          </p:cNvPr>
          <p:cNvSpPr>
            <a:spLocks noGrp="1"/>
          </p:cNvSpPr>
          <p:nvPr>
            <p:ph type="title"/>
          </p:nvPr>
        </p:nvSpPr>
        <p:spPr/>
        <p:txBody>
          <a:bodyPr/>
          <a:lstStyle/>
          <a:p>
            <a:r>
              <a:rPr lang="en-US" b="1" dirty="0"/>
              <a:t>Waterfall vs. Scrum-Agile</a:t>
            </a:r>
          </a:p>
        </p:txBody>
      </p:sp>
      <p:sp>
        <p:nvSpPr>
          <p:cNvPr id="3" name="Content Placeholder 2">
            <a:extLst>
              <a:ext uri="{FF2B5EF4-FFF2-40B4-BE49-F238E27FC236}">
                <a16:creationId xmlns:a16="http://schemas.microsoft.com/office/drawing/2014/main" id="{2C5159AE-CCB4-C956-E41E-0A638BEF204C}"/>
              </a:ext>
            </a:extLst>
          </p:cNvPr>
          <p:cNvSpPr>
            <a:spLocks noGrp="1"/>
          </p:cNvSpPr>
          <p:nvPr>
            <p:ph idx="1"/>
          </p:nvPr>
        </p:nvSpPr>
        <p:spPr>
          <a:xfrm>
            <a:off x="807962" y="1930400"/>
            <a:ext cx="8596668" cy="3880773"/>
          </a:xfrm>
        </p:spPr>
        <p:txBody>
          <a:bodyPr>
            <a:normAutofit fontScale="92500" lnSpcReduction="20000"/>
          </a:bodyPr>
          <a:lstStyle/>
          <a:p>
            <a:pPr marL="0" indent="0">
              <a:buNone/>
            </a:pPr>
            <a:r>
              <a:rPr lang="en-US" b="1" dirty="0"/>
              <a:t>Waterfall Development</a:t>
            </a:r>
            <a:endParaRPr lang="en-US" dirty="0"/>
          </a:p>
          <a:p>
            <a:r>
              <a:rPr lang="en-US" dirty="0"/>
              <a:t>Linear and sequential phases</a:t>
            </a:r>
          </a:p>
          <a:p>
            <a:r>
              <a:rPr lang="en-US" dirty="0"/>
              <a:t>Requirements fixed early</a:t>
            </a:r>
          </a:p>
          <a:p>
            <a:r>
              <a:rPr lang="en-US" dirty="0"/>
              <a:t>Changes are costly and disruptive</a:t>
            </a:r>
          </a:p>
          <a:p>
            <a:pPr marL="0" indent="0">
              <a:buNone/>
            </a:pPr>
            <a:r>
              <a:rPr lang="en-US" b="1" dirty="0"/>
              <a:t>Scrum-Agile Development</a:t>
            </a:r>
            <a:endParaRPr lang="en-US" dirty="0"/>
          </a:p>
          <a:p>
            <a:r>
              <a:rPr lang="en-US" dirty="0"/>
              <a:t>Iterative and flexible</a:t>
            </a:r>
          </a:p>
          <a:p>
            <a:r>
              <a:rPr lang="en-US" dirty="0"/>
              <a:t>Embraces changing requirements</a:t>
            </a:r>
          </a:p>
          <a:p>
            <a:r>
              <a:rPr lang="en-US" dirty="0"/>
              <a:t>Early and frequent stakeholder feedback</a:t>
            </a:r>
          </a:p>
          <a:p>
            <a:pPr marL="0" indent="0">
              <a:buNone/>
            </a:pPr>
            <a:r>
              <a:rPr lang="en-US" b="1" dirty="0"/>
              <a:t>SNHU Travel Example</a:t>
            </a:r>
            <a:endParaRPr lang="en-US" dirty="0"/>
          </a:p>
          <a:p>
            <a:r>
              <a:rPr lang="en-US" dirty="0"/>
              <a:t>Mid-project shift to wellness-focused travel</a:t>
            </a:r>
          </a:p>
          <a:p>
            <a:r>
              <a:rPr lang="en-US" dirty="0"/>
              <a:t>Agile allowed reprioritization without delaying delivery</a:t>
            </a:r>
          </a:p>
        </p:txBody>
      </p:sp>
      <p:sp>
        <p:nvSpPr>
          <p:cNvPr id="5" name="TextBox 4">
            <a:extLst>
              <a:ext uri="{FF2B5EF4-FFF2-40B4-BE49-F238E27FC236}">
                <a16:creationId xmlns:a16="http://schemas.microsoft.com/office/drawing/2014/main" id="{48D7E992-AF8C-941D-6679-4D23A7A44D68}"/>
              </a:ext>
            </a:extLst>
          </p:cNvPr>
          <p:cNvSpPr txBox="1"/>
          <p:nvPr/>
        </p:nvSpPr>
        <p:spPr>
          <a:xfrm>
            <a:off x="677334" y="6271551"/>
            <a:ext cx="6106884" cy="369332"/>
          </a:xfrm>
          <a:prstGeom prst="rect">
            <a:avLst/>
          </a:prstGeom>
          <a:noFill/>
        </p:spPr>
        <p:txBody>
          <a:bodyPr wrap="square">
            <a:spAutoFit/>
          </a:bodyPr>
          <a:lstStyle/>
          <a:p>
            <a:r>
              <a:rPr lang="en-US" i="1" dirty="0"/>
              <a:t>Citation:</a:t>
            </a:r>
            <a:r>
              <a:rPr lang="en-US" dirty="0"/>
              <a:t> Denning (2022)</a:t>
            </a:r>
          </a:p>
        </p:txBody>
      </p:sp>
    </p:spTree>
    <p:extLst>
      <p:ext uri="{BB962C8B-B14F-4D97-AF65-F5344CB8AC3E}">
        <p14:creationId xmlns:p14="http://schemas.microsoft.com/office/powerpoint/2010/main" val="107260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78CE-3637-80D8-79F1-0C152931C535}"/>
              </a:ext>
            </a:extLst>
          </p:cNvPr>
          <p:cNvSpPr>
            <a:spLocks noGrp="1"/>
          </p:cNvSpPr>
          <p:nvPr>
            <p:ph type="title"/>
          </p:nvPr>
        </p:nvSpPr>
        <p:spPr/>
        <p:txBody>
          <a:bodyPr/>
          <a:lstStyle/>
          <a:p>
            <a:r>
              <a:rPr lang="en-US" b="1" dirty="0"/>
              <a:t>Choosing Waterfall or Agile</a:t>
            </a:r>
          </a:p>
        </p:txBody>
      </p:sp>
      <p:sp>
        <p:nvSpPr>
          <p:cNvPr id="3" name="Content Placeholder 2">
            <a:extLst>
              <a:ext uri="{FF2B5EF4-FFF2-40B4-BE49-F238E27FC236}">
                <a16:creationId xmlns:a16="http://schemas.microsoft.com/office/drawing/2014/main" id="{C0C61A96-9168-DADF-154B-8CF77E6B398F}"/>
              </a:ext>
            </a:extLst>
          </p:cNvPr>
          <p:cNvSpPr>
            <a:spLocks noGrp="1"/>
          </p:cNvSpPr>
          <p:nvPr>
            <p:ph idx="1"/>
          </p:nvPr>
        </p:nvSpPr>
        <p:spPr>
          <a:xfrm>
            <a:off x="677334" y="1761578"/>
            <a:ext cx="8596668" cy="3880773"/>
          </a:xfrm>
        </p:spPr>
        <p:txBody>
          <a:bodyPr>
            <a:normAutofit fontScale="92500" lnSpcReduction="20000"/>
          </a:bodyPr>
          <a:lstStyle/>
          <a:p>
            <a:pPr marL="0" indent="0">
              <a:buNone/>
            </a:pPr>
            <a:r>
              <a:rPr lang="en-US" b="1" dirty="0"/>
              <a:t>Factors to Consider</a:t>
            </a:r>
            <a:endParaRPr lang="en-US" dirty="0"/>
          </a:p>
          <a:p>
            <a:r>
              <a:rPr lang="en-US" dirty="0"/>
              <a:t>Stability of requirements</a:t>
            </a:r>
          </a:p>
          <a:p>
            <a:r>
              <a:rPr lang="en-US" dirty="0"/>
              <a:t>Level of stakeholder involvement</a:t>
            </a:r>
          </a:p>
          <a:p>
            <a:r>
              <a:rPr lang="en-US" dirty="0"/>
              <a:t>Need for flexibility</a:t>
            </a:r>
          </a:p>
          <a:p>
            <a:r>
              <a:rPr lang="en-US" dirty="0"/>
              <a:t>Project complexity and risk</a:t>
            </a:r>
          </a:p>
          <a:p>
            <a:pPr marL="0" indent="0">
              <a:buNone/>
            </a:pPr>
            <a:r>
              <a:rPr lang="en-US" b="1" dirty="0"/>
              <a:t>SNHU Travel Outcome</a:t>
            </a:r>
            <a:endParaRPr lang="en-US" dirty="0"/>
          </a:p>
          <a:p>
            <a:r>
              <a:rPr lang="en-US" dirty="0"/>
              <a:t>Requirements evolved during development</a:t>
            </a:r>
          </a:p>
          <a:p>
            <a:r>
              <a:rPr lang="en-US" dirty="0"/>
              <a:t>Frequent feedback was needed</a:t>
            </a:r>
          </a:p>
          <a:p>
            <a:r>
              <a:rPr lang="en-US" dirty="0"/>
              <a:t>Scrum-Agile proved to be the better fit</a:t>
            </a:r>
          </a:p>
          <a:p>
            <a:pPr marL="0" indent="0">
              <a:buNone/>
            </a:pPr>
            <a:r>
              <a:rPr lang="en-US" b="1" dirty="0"/>
              <a:t>Recommendation</a:t>
            </a:r>
            <a:endParaRPr lang="en-US" dirty="0"/>
          </a:p>
          <a:p>
            <a:r>
              <a:rPr lang="en-US" dirty="0"/>
              <a:t>Expand Scrum-Agile adoption for client-facing projects</a:t>
            </a:r>
          </a:p>
        </p:txBody>
      </p:sp>
      <p:sp>
        <p:nvSpPr>
          <p:cNvPr id="5" name="TextBox 4">
            <a:extLst>
              <a:ext uri="{FF2B5EF4-FFF2-40B4-BE49-F238E27FC236}">
                <a16:creationId xmlns:a16="http://schemas.microsoft.com/office/drawing/2014/main" id="{37987A4A-E290-929B-8808-7B63913AEFA4}"/>
              </a:ext>
            </a:extLst>
          </p:cNvPr>
          <p:cNvSpPr txBox="1"/>
          <p:nvPr/>
        </p:nvSpPr>
        <p:spPr>
          <a:xfrm>
            <a:off x="677334" y="6271551"/>
            <a:ext cx="6109854" cy="369332"/>
          </a:xfrm>
          <a:prstGeom prst="rect">
            <a:avLst/>
          </a:prstGeom>
          <a:noFill/>
        </p:spPr>
        <p:txBody>
          <a:bodyPr wrap="square">
            <a:spAutoFit/>
          </a:bodyPr>
          <a:lstStyle/>
          <a:p>
            <a:r>
              <a:rPr lang="en-US" i="1" dirty="0"/>
              <a:t>Citation:</a:t>
            </a:r>
            <a:r>
              <a:rPr lang="en-US" dirty="0"/>
              <a:t> Beck et al. (2021)</a:t>
            </a:r>
          </a:p>
        </p:txBody>
      </p:sp>
    </p:spTree>
    <p:extLst>
      <p:ext uri="{BB962C8B-B14F-4D97-AF65-F5344CB8AC3E}">
        <p14:creationId xmlns:p14="http://schemas.microsoft.com/office/powerpoint/2010/main" val="2961401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B9DBA-E867-FD42-48C7-63DB7F65573A}"/>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EA74F19E-9788-1319-6922-25A189432C52}"/>
              </a:ext>
            </a:extLst>
          </p:cNvPr>
          <p:cNvSpPr>
            <a:spLocks noGrp="1"/>
          </p:cNvSpPr>
          <p:nvPr>
            <p:ph idx="1"/>
          </p:nvPr>
        </p:nvSpPr>
        <p:spPr>
          <a:xfrm>
            <a:off x="677334" y="1794829"/>
            <a:ext cx="8596668" cy="4087811"/>
          </a:xfrm>
        </p:spPr>
        <p:txBody>
          <a:bodyPr/>
          <a:lstStyle/>
          <a:p>
            <a:r>
              <a:rPr lang="en-US" dirty="0"/>
              <a:t>Beck, K., Cunningham, W., Jeffries, R., Kern, J., Schwaber, K., &amp; Sutherland, J. (2021). </a:t>
            </a:r>
            <a:r>
              <a:rPr lang="en-US" i="1" dirty="0"/>
              <a:t>The Agile Manifesto: Principles and practice twenty years later</a:t>
            </a:r>
            <a:r>
              <a:rPr lang="en-US" dirty="0"/>
              <a:t>. Agile Alliance.</a:t>
            </a:r>
          </a:p>
          <a:p>
            <a:r>
              <a:rPr lang="en-US" dirty="0"/>
              <a:t>Denning, S. (2022). </a:t>
            </a:r>
            <a:r>
              <a:rPr lang="en-US" i="1" dirty="0"/>
              <a:t>The age of Agile: How smart companies work</a:t>
            </a:r>
            <a:r>
              <a:rPr lang="en-US" dirty="0"/>
              <a:t>. MIT Sloan Management Review.</a:t>
            </a:r>
          </a:p>
          <a:p>
            <a:r>
              <a:rPr lang="en-US" dirty="0"/>
              <a:t>Moran, A. (2020). </a:t>
            </a:r>
            <a:r>
              <a:rPr lang="en-US" i="1" dirty="0"/>
              <a:t>Managing Agile: Strategy, implementation, </a:t>
            </a:r>
            <a:r>
              <a:rPr lang="en-US" i="1" dirty="0" err="1"/>
              <a:t>organisation</a:t>
            </a:r>
            <a:r>
              <a:rPr lang="en-US" i="1" dirty="0"/>
              <a:t> and people</a:t>
            </a:r>
            <a:r>
              <a:rPr lang="en-US" dirty="0"/>
              <a:t>. Springer.</a:t>
            </a:r>
          </a:p>
          <a:p>
            <a:r>
              <a:rPr lang="en-US" dirty="0"/>
              <a:t>Rubin, K. S. (2013). </a:t>
            </a:r>
            <a:r>
              <a:rPr lang="en-US" i="1" dirty="0"/>
              <a:t>Essential Scrum: A practical guide to the most popular agile process</a:t>
            </a:r>
            <a:r>
              <a:rPr lang="en-US" dirty="0"/>
              <a:t>. Addison-Wesley.</a:t>
            </a:r>
          </a:p>
          <a:p>
            <a:r>
              <a:rPr lang="en-US" dirty="0"/>
              <a:t>Schwaber, K., &amp; Sutherland, J. (2020). </a:t>
            </a:r>
            <a:r>
              <a:rPr lang="en-US" i="1" dirty="0"/>
              <a:t>The Scrum Guide: The definitive guide to Scrum: The rules of the game</a:t>
            </a:r>
            <a:r>
              <a:rPr lang="en-US" dirty="0"/>
              <a:t>. Scrum.org.</a:t>
            </a:r>
          </a:p>
          <a:p>
            <a:pPr marL="0" indent="0">
              <a:buNone/>
            </a:pPr>
            <a:endParaRPr lang="en-US" dirty="0"/>
          </a:p>
        </p:txBody>
      </p:sp>
    </p:spTree>
    <p:extLst>
      <p:ext uri="{BB962C8B-B14F-4D97-AF65-F5344CB8AC3E}">
        <p14:creationId xmlns:p14="http://schemas.microsoft.com/office/powerpoint/2010/main" val="562020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22</TotalTime>
  <Words>906</Words>
  <Application>Microsoft Office PowerPoint</Application>
  <PresentationFormat>Widescreen</PresentationFormat>
  <Paragraphs>92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Trebuchet MS</vt:lpstr>
      <vt:lpstr>Wingdings 3</vt:lpstr>
      <vt:lpstr>Facet</vt:lpstr>
      <vt:lpstr>ChadaTech Agile Presentation</vt:lpstr>
      <vt:lpstr>Key Facets of Scrum-Agile</vt:lpstr>
      <vt:lpstr>Scrum-Agile Team Roles</vt:lpstr>
      <vt:lpstr>Agile Phases of the SDLC</vt:lpstr>
      <vt:lpstr>Waterfall vs. Scrum-Agile</vt:lpstr>
      <vt:lpstr>Choosing Waterfall or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Cammy Holmes</dc:creator>
  <cp:lastModifiedBy>Cammy Holmes</cp:lastModifiedBy>
  <cp:revision>1</cp:revision>
  <dcterms:created xsi:type="dcterms:W3CDTF">2025-12-14T21:40:06Z</dcterms:created>
  <dcterms:modified xsi:type="dcterms:W3CDTF">2025-12-14T22:05:05Z</dcterms:modified>
</cp:coreProperties>
</file>